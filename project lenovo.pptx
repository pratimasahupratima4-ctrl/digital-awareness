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notesMasterIdLst>
    <p:notesMasterId r:id="rId14"/>
  </p:notesMasterIdLst>
  <p:sldIdLst>
    <p:sldId id="256" r:id="rId2"/>
    <p:sldId id="257" r:id="rId3"/>
    <p:sldId id="26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5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7909AE-2C8F-4858-8888-12ABFD434ED1}" type="datetimeFigureOut">
              <a:rPr lang="en-IN" smtClean="0"/>
              <a:t>24-03-2026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C6A604-E5F4-4C15-885F-9F605939E673}" type="slidenum">
              <a:rPr lang="en-IN" smtClean="0"/>
              <a:t>‹#›</a:t>
            </a:fld>
            <a:endParaRPr lang="en-IN"/>
          </a:p>
        </p:txBody>
      </p:sp>
    </p:spTree>
    <p:extLst>
      <p:ext uri="{BB962C8B-B14F-4D97-AF65-F5344CB8AC3E}">
        <p14:creationId xmlns:p14="http://schemas.microsoft.com/office/powerpoint/2010/main" val="3284990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2968672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3476321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2451458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966434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C6C115-85BB-42AE-A5B7-3A5E5AE26CE5}"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664953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C6C115-85BB-42AE-A5B7-3A5E5AE26CE5}" type="datetimeFigureOut">
              <a:rPr lang="en-IN" smtClean="0"/>
              <a:t>24-03-2026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96656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6C115-85BB-42AE-A5B7-3A5E5AE26CE5}" type="datetimeFigureOut">
              <a:rPr lang="en-IN" smtClean="0"/>
              <a:t>24-03-2026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77532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3408108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C6C115-85BB-42AE-A5B7-3A5E5AE26CE5}"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976440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3195162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227927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2061558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40543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1352964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2776367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C6C115-85BB-42AE-A5B7-3A5E5AE26CE5}"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4EB95D-3FB6-47A8-A1A8-37DFE474C59C}" type="slidenum">
              <a:rPr lang="en-IN" smtClean="0"/>
              <a:t>‹#›</a:t>
            </a:fld>
            <a:endParaRPr lang="en-IN"/>
          </a:p>
        </p:txBody>
      </p:sp>
    </p:spTree>
    <p:extLst>
      <p:ext uri="{BB962C8B-B14F-4D97-AF65-F5344CB8AC3E}">
        <p14:creationId xmlns:p14="http://schemas.microsoft.com/office/powerpoint/2010/main" val="34594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8C6C115-85BB-42AE-A5B7-3A5E5AE26CE5}" type="datetimeFigureOut">
              <a:rPr lang="en-IN" smtClean="0"/>
              <a:t>24-03-2026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4EB95D-3FB6-47A8-A1A8-37DFE474C59C}" type="slidenum">
              <a:rPr lang="en-IN" smtClean="0"/>
              <a:t>‹#›</a:t>
            </a:fld>
            <a:endParaRPr lang="en-IN"/>
          </a:p>
        </p:txBody>
      </p:sp>
    </p:spTree>
    <p:extLst>
      <p:ext uri="{BB962C8B-B14F-4D97-AF65-F5344CB8AC3E}">
        <p14:creationId xmlns:p14="http://schemas.microsoft.com/office/powerpoint/2010/main" val="3627366234"/>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google.com/search?rlz=1C1JJTC_enIN1129IN1130&amp;sca_esv=6b7c40959298e02e&amp;aep=1&amp;sxsrf=ANbL-n6l1S5E6n0-NYYwMyHmj8b591QROg%3A1774332233474&amp;q=PowerSchool+Data+Breach+%282025%29&amp;source=lnms&amp;fbs=ADc_l-a3RLf0mvhQAV1G53yxjDF6PP8YWQDZPZJqgb1C2jgAsGBK6kJTn_hC00cj3zig54Yam2Hq5lDpLipNEakwD1y1_GZRLaG-9nQk1xZjkh46Z3WWvxAedvv6sIuvM4ovp0poL3EEBlrorfgQXIkf0ksOWrV2sNtvP0SQvH5iaFzJB09W9GUsMsHigiqcckBzPy4CRB73fYMiFP2K1xA5rl6SZRVkY-zPEpVCusU9MWboVNaLI_I&amp;sa=X&amp;ved=2ahUKEwid-qvV7reTAxVImq8BHShQPBgQgK4QegYIAQgCEAg&amp;biw=1280&amp;bih=585&amp;dpr=1.5&amp;mstk=AUtExfBkzzpLoPpxA0w97L7CMJNyV3rTD6uZNHvLwBGUasmtgPQ_IkLZ7O5OGwXg3f91TlO9almSDw9MVSjrPnsNaIx1w4bmDi84_rQjdjqaIbjV-Od5gH-vaawnwJhDBk8vRcs&amp;csui=3"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8883-54DE-DCBE-4F97-23ADF48D63F3}"/>
              </a:ext>
            </a:extLst>
          </p:cNvPr>
          <p:cNvSpPr>
            <a:spLocks noGrp="1"/>
          </p:cNvSpPr>
          <p:nvPr>
            <p:ph type="ctrTitle"/>
          </p:nvPr>
        </p:nvSpPr>
        <p:spPr>
          <a:xfrm>
            <a:off x="1523999" y="2"/>
            <a:ext cx="9083041" cy="2743200"/>
          </a:xfrm>
        </p:spPr>
        <p:txBody>
          <a:bodyPr>
            <a:normAutofit/>
          </a:bodyPr>
          <a:lstStyle/>
          <a:p>
            <a:r>
              <a:rPr lang="en-IN" sz="4900" b="1" u="sng" dirty="0"/>
              <a:t>GOVERNMENT ENGINEERING COLLEGE</a:t>
            </a:r>
            <a:r>
              <a:rPr lang="en-IN" sz="4400" b="1" dirty="0"/>
              <a:t>           </a:t>
            </a:r>
            <a:r>
              <a:rPr lang="en-IN" sz="3200" b="1" dirty="0"/>
              <a:t>JAGDALPUR(C.G)</a:t>
            </a:r>
            <a:br>
              <a:rPr lang="en-IN" sz="4400" b="1" u="sng" dirty="0"/>
            </a:br>
            <a:r>
              <a:rPr lang="en-IN" sz="4400" b="1" u="sng" dirty="0"/>
              <a:t>            </a:t>
            </a:r>
          </a:p>
        </p:txBody>
      </p:sp>
      <p:sp>
        <p:nvSpPr>
          <p:cNvPr id="3" name="Subtitle 2">
            <a:extLst>
              <a:ext uri="{FF2B5EF4-FFF2-40B4-BE49-F238E27FC236}">
                <a16:creationId xmlns:a16="http://schemas.microsoft.com/office/drawing/2014/main" id="{80DD5A8E-821A-AC3E-8FDC-E43DEE28825F}"/>
              </a:ext>
            </a:extLst>
          </p:cNvPr>
          <p:cNvSpPr>
            <a:spLocks noGrp="1"/>
          </p:cNvSpPr>
          <p:nvPr>
            <p:ph type="subTitle" idx="1"/>
          </p:nvPr>
        </p:nvSpPr>
        <p:spPr>
          <a:xfrm>
            <a:off x="3503364" y="2743202"/>
            <a:ext cx="4329629" cy="2194560"/>
          </a:xfrm>
        </p:spPr>
        <p:txBody>
          <a:bodyPr>
            <a:normAutofit/>
          </a:bodyPr>
          <a:lstStyle/>
          <a:p>
            <a:r>
              <a:rPr lang="en-IN" b="1" dirty="0"/>
              <a:t>Cyber security</a:t>
            </a:r>
          </a:p>
          <a:p>
            <a:r>
              <a:rPr lang="en-IN" sz="2800" b="1" dirty="0"/>
              <a:t>“DIGITAL AWARENESS”</a:t>
            </a:r>
          </a:p>
          <a:p>
            <a:r>
              <a:rPr lang="en-IN" b="1" dirty="0"/>
              <a:t>2026-27</a:t>
            </a:r>
          </a:p>
          <a:p>
            <a:r>
              <a:rPr lang="en-IN" b="1" dirty="0"/>
              <a:t>SEMESTER- 6</a:t>
            </a:r>
            <a:r>
              <a:rPr lang="en-IN" b="1" baseline="30000" dirty="0"/>
              <a:t>TH</a:t>
            </a:r>
            <a:r>
              <a:rPr lang="en-IN" b="1" dirty="0"/>
              <a:t> IT</a:t>
            </a:r>
          </a:p>
          <a:p>
            <a:endParaRPr lang="en-IN" b="1" dirty="0"/>
          </a:p>
        </p:txBody>
      </p:sp>
      <p:sp>
        <p:nvSpPr>
          <p:cNvPr id="4" name="TextBox 3">
            <a:extLst>
              <a:ext uri="{FF2B5EF4-FFF2-40B4-BE49-F238E27FC236}">
                <a16:creationId xmlns:a16="http://schemas.microsoft.com/office/drawing/2014/main" id="{B7A36234-A2F2-2155-A26F-0DE66C5A5F7A}"/>
              </a:ext>
            </a:extLst>
          </p:cNvPr>
          <p:cNvSpPr txBox="1"/>
          <p:nvPr/>
        </p:nvSpPr>
        <p:spPr>
          <a:xfrm>
            <a:off x="10306594" y="5251269"/>
            <a:ext cx="1623842" cy="1107996"/>
          </a:xfrm>
          <a:prstGeom prst="rect">
            <a:avLst/>
          </a:prstGeom>
          <a:noFill/>
        </p:spPr>
        <p:txBody>
          <a:bodyPr wrap="none" rtlCol="0">
            <a:spAutoFit/>
          </a:bodyPr>
          <a:lstStyle/>
          <a:p>
            <a:r>
              <a:rPr lang="en-IN" dirty="0"/>
              <a:t>PRESENT BY </a:t>
            </a:r>
          </a:p>
          <a:p>
            <a:r>
              <a:rPr lang="en-IN" dirty="0"/>
              <a:t>   </a:t>
            </a:r>
            <a:r>
              <a:rPr lang="en-IN" sz="2400" b="1" dirty="0"/>
              <a:t>PRATIMA</a:t>
            </a:r>
          </a:p>
          <a:p>
            <a:r>
              <a:rPr lang="en-IN" sz="2400" b="1" dirty="0"/>
              <a:t>   ( 6</a:t>
            </a:r>
            <a:r>
              <a:rPr lang="en-IN" sz="2400" b="1" baseline="30000" dirty="0"/>
              <a:t>TH</a:t>
            </a:r>
            <a:r>
              <a:rPr lang="en-IN" sz="2400" b="1" dirty="0"/>
              <a:t> IT)</a:t>
            </a:r>
          </a:p>
        </p:txBody>
      </p:sp>
      <p:sp>
        <p:nvSpPr>
          <p:cNvPr id="5" name="TextBox 4">
            <a:extLst>
              <a:ext uri="{FF2B5EF4-FFF2-40B4-BE49-F238E27FC236}">
                <a16:creationId xmlns:a16="http://schemas.microsoft.com/office/drawing/2014/main" id="{43B6A765-D753-4E7C-0D4C-BAED906ECE8F}"/>
              </a:ext>
            </a:extLst>
          </p:cNvPr>
          <p:cNvSpPr txBox="1"/>
          <p:nvPr/>
        </p:nvSpPr>
        <p:spPr>
          <a:xfrm>
            <a:off x="1214845" y="5183608"/>
            <a:ext cx="3670663" cy="1015663"/>
          </a:xfrm>
          <a:prstGeom prst="rect">
            <a:avLst/>
          </a:prstGeom>
          <a:noFill/>
        </p:spPr>
        <p:txBody>
          <a:bodyPr wrap="square" rtlCol="0">
            <a:spAutoFit/>
          </a:bodyPr>
          <a:lstStyle/>
          <a:p>
            <a:r>
              <a:rPr lang="en-IN" dirty="0"/>
              <a:t>PRESENTED TO</a:t>
            </a:r>
          </a:p>
          <a:p>
            <a:r>
              <a:rPr lang="en-IN" sz="2400" b="1" dirty="0"/>
              <a:t>LENOVO LEAP</a:t>
            </a:r>
          </a:p>
          <a:p>
            <a:endParaRPr lang="en-IN" dirty="0"/>
          </a:p>
        </p:txBody>
      </p:sp>
      <p:pic>
        <p:nvPicPr>
          <p:cNvPr id="5122" name="Picture 2" descr="GEC JDP Alumni | Jagdalpur">
            <a:extLst>
              <a:ext uri="{FF2B5EF4-FFF2-40B4-BE49-F238E27FC236}">
                <a16:creationId xmlns:a16="http://schemas.microsoft.com/office/drawing/2014/main" id="{BCA088AA-011D-999B-4903-6B746A0B2D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18010"/>
            <a:ext cx="1127760" cy="118164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Lenovo Logo – History, Meaning &amp; Brand ...">
            <a:extLst>
              <a:ext uri="{FF2B5EF4-FFF2-40B4-BE49-F238E27FC236}">
                <a16:creationId xmlns:a16="http://schemas.microsoft.com/office/drawing/2014/main" id="{A8C11257-E0CC-1795-7F8D-0125A0A21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651" y="5939122"/>
            <a:ext cx="2533650" cy="776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638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105F1-DB35-5412-3590-D1495266998E}"/>
              </a:ext>
            </a:extLst>
          </p:cNvPr>
          <p:cNvSpPr>
            <a:spLocks noGrp="1"/>
          </p:cNvSpPr>
          <p:nvPr>
            <p:ph type="title"/>
          </p:nvPr>
        </p:nvSpPr>
        <p:spPr/>
        <p:txBody>
          <a:bodyPr>
            <a:normAutofit/>
          </a:bodyPr>
          <a:lstStyle/>
          <a:p>
            <a:r>
              <a:rPr lang="en-IN" sz="2800" b="1" u="sng" dirty="0"/>
              <a:t>CYBER SECURITY</a:t>
            </a:r>
          </a:p>
        </p:txBody>
      </p:sp>
      <p:sp>
        <p:nvSpPr>
          <p:cNvPr id="3" name="Content Placeholder 2">
            <a:extLst>
              <a:ext uri="{FF2B5EF4-FFF2-40B4-BE49-F238E27FC236}">
                <a16:creationId xmlns:a16="http://schemas.microsoft.com/office/drawing/2014/main" id="{0853426F-E53A-A980-8D28-66E691F8C6D7}"/>
              </a:ext>
            </a:extLst>
          </p:cNvPr>
          <p:cNvSpPr>
            <a:spLocks noGrp="1"/>
          </p:cNvSpPr>
          <p:nvPr>
            <p:ph idx="1"/>
          </p:nvPr>
        </p:nvSpPr>
        <p:spPr>
          <a:xfrm>
            <a:off x="677336" y="1233889"/>
            <a:ext cx="6748034" cy="4886273"/>
          </a:xfrm>
        </p:spPr>
        <p:txBody>
          <a:bodyPr/>
          <a:lstStyle/>
          <a:p>
            <a:endParaRPr lang="en-US" b="1" dirty="0"/>
          </a:p>
          <a:p>
            <a:r>
              <a:rPr lang="en-US" dirty="0"/>
              <a:t>Cybersecurity is the practice of protecting systems, networks, programs, and data from digital attacks, unauthorized access, or damage. It involves people, processes, and technology to safeguard information confidentiality, integrity, and availability, reducing risks of data theft, financial loss, and operational disruptions.</a:t>
            </a:r>
          </a:p>
          <a:p>
            <a:r>
              <a:rPr lang="en-US" dirty="0"/>
              <a:t> </a:t>
            </a:r>
            <a:r>
              <a:rPr lang="en-US" b="1" dirty="0"/>
              <a:t>Digital awareness in cybersecurity</a:t>
            </a:r>
            <a:r>
              <a:rPr lang="en-US" dirty="0"/>
              <a:t> is the understanding and knowledge of potential cyber threats and the proactive strategies used to handle them. It involves recognizing risks—such as phishing, malware, and social engineering—and adopting responsible online behaviors to protect personal and organizational data.</a:t>
            </a:r>
            <a:endParaRPr lang="en-IN" dirty="0"/>
          </a:p>
        </p:txBody>
      </p:sp>
      <p:pic>
        <p:nvPicPr>
          <p:cNvPr id="1028" name="Picture 4" descr="Cybersecurity Awareness Month 2025 ...">
            <a:extLst>
              <a:ext uri="{FF2B5EF4-FFF2-40B4-BE49-F238E27FC236}">
                <a16:creationId xmlns:a16="http://schemas.microsoft.com/office/drawing/2014/main" id="{48079641-6A8B-DE4B-ACF4-29663F91E1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5370" y="1751682"/>
            <a:ext cx="4241493" cy="275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110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AA52-2618-51B4-3F6C-63561C98881A}"/>
              </a:ext>
            </a:extLst>
          </p:cNvPr>
          <p:cNvSpPr>
            <a:spLocks noGrp="1"/>
          </p:cNvSpPr>
          <p:nvPr>
            <p:ph type="title"/>
          </p:nvPr>
        </p:nvSpPr>
        <p:spPr/>
        <p:txBody>
          <a:bodyPr/>
          <a:lstStyle/>
          <a:p>
            <a:r>
              <a:rPr lang="en-IN" dirty="0"/>
              <a:t>Cyber Thread</a:t>
            </a:r>
          </a:p>
        </p:txBody>
      </p:sp>
      <p:sp>
        <p:nvSpPr>
          <p:cNvPr id="6" name="TextBox 5">
            <a:extLst>
              <a:ext uri="{FF2B5EF4-FFF2-40B4-BE49-F238E27FC236}">
                <a16:creationId xmlns:a16="http://schemas.microsoft.com/office/drawing/2014/main" id="{52AFEC31-1928-1862-4A98-7B41F81C13E3}"/>
              </a:ext>
            </a:extLst>
          </p:cNvPr>
          <p:cNvSpPr txBox="1"/>
          <p:nvPr/>
        </p:nvSpPr>
        <p:spPr>
          <a:xfrm>
            <a:off x="320383" y="1466370"/>
            <a:ext cx="5775617" cy="5078313"/>
          </a:xfrm>
          <a:prstGeom prst="rect">
            <a:avLst/>
          </a:prstGeom>
          <a:noFill/>
        </p:spPr>
        <p:txBody>
          <a:bodyPr wrap="square">
            <a:spAutoFit/>
          </a:bodyPr>
          <a:lstStyle/>
          <a:p>
            <a:r>
              <a:rPr lang="en-US" dirty="0"/>
              <a:t>A </a:t>
            </a:r>
            <a:r>
              <a:rPr lang="en-US" b="1" dirty="0"/>
              <a:t>cyber threat</a:t>
            </a:r>
            <a:r>
              <a:rPr lang="en-US" dirty="0"/>
              <a:t> is any malicious attempt or potential risk that seeks to damage, disrupt, or gain unauthorized access to computer systems, networks, or data. These threats are typically carried out by individuals, groups, or organizations using digital means to exploit vulnerabilities in information systems.</a:t>
            </a:r>
          </a:p>
          <a:p>
            <a:endParaRPr lang="en-US" dirty="0"/>
          </a:p>
          <a:p>
            <a:r>
              <a:rPr lang="en-US" b="1" dirty="0"/>
              <a:t>Examples of Cyber Threats</a:t>
            </a:r>
          </a:p>
          <a:p>
            <a:r>
              <a:rPr lang="en-US" b="1" dirty="0"/>
              <a:t>Malware</a:t>
            </a:r>
            <a:r>
              <a:rPr lang="en-US" dirty="0"/>
              <a:t> – Harmful software designed to damage or control systems </a:t>
            </a:r>
          </a:p>
          <a:p>
            <a:r>
              <a:rPr lang="en-US" b="1" dirty="0"/>
              <a:t>Phishing Attacks</a:t>
            </a:r>
            <a:r>
              <a:rPr lang="en-US" dirty="0"/>
              <a:t> – Fake emails or messages used to trick users into revealing sensitive data </a:t>
            </a:r>
          </a:p>
          <a:p>
            <a:r>
              <a:rPr lang="en-US" b="1" dirty="0"/>
              <a:t>Ransomware</a:t>
            </a:r>
            <a:r>
              <a:rPr lang="en-US" dirty="0"/>
              <a:t> – Locks your data and demands money to unlock it </a:t>
            </a:r>
          </a:p>
          <a:p>
            <a:r>
              <a:rPr lang="en-US" b="1" dirty="0"/>
              <a:t>Hacking</a:t>
            </a:r>
            <a:r>
              <a:rPr lang="en-US" dirty="0"/>
              <a:t> – Unauthorized access to systems or accounts </a:t>
            </a:r>
          </a:p>
          <a:p>
            <a:r>
              <a:rPr lang="en-US" b="1" dirty="0"/>
              <a:t>Data Breaches</a:t>
            </a:r>
            <a:r>
              <a:rPr lang="en-US" dirty="0"/>
              <a:t> – Exposure of confidential information</a:t>
            </a:r>
          </a:p>
          <a:p>
            <a:endParaRPr lang="en-IN" dirty="0"/>
          </a:p>
        </p:txBody>
      </p:sp>
      <p:pic>
        <p:nvPicPr>
          <p:cNvPr id="2051" name="Picture 3" descr="What are the 8 main cyber security threats? - FortifyData ...">
            <a:extLst>
              <a:ext uri="{FF2B5EF4-FFF2-40B4-BE49-F238E27FC236}">
                <a16:creationId xmlns:a16="http://schemas.microsoft.com/office/drawing/2014/main" id="{4B7B1719-53AC-7B11-7DAC-931476422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613" y="1628373"/>
            <a:ext cx="5868318" cy="3601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10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F543-481F-16E8-1884-6995D09CC549}"/>
              </a:ext>
            </a:extLst>
          </p:cNvPr>
          <p:cNvSpPr>
            <a:spLocks noGrp="1"/>
          </p:cNvSpPr>
          <p:nvPr>
            <p:ph type="title"/>
          </p:nvPr>
        </p:nvSpPr>
        <p:spPr>
          <a:xfrm>
            <a:off x="2462297" y="258350"/>
            <a:ext cx="8911687" cy="1280890"/>
          </a:xfrm>
        </p:spPr>
        <p:txBody>
          <a:bodyPr/>
          <a:lstStyle/>
          <a:p>
            <a:r>
              <a:rPr lang="en-IN" b="1" dirty="0"/>
              <a:t>SAFETY RULES AND KNOWLEDGE </a:t>
            </a:r>
          </a:p>
        </p:txBody>
      </p:sp>
      <p:sp>
        <p:nvSpPr>
          <p:cNvPr id="3" name="Content Placeholder 2">
            <a:extLst>
              <a:ext uri="{FF2B5EF4-FFF2-40B4-BE49-F238E27FC236}">
                <a16:creationId xmlns:a16="http://schemas.microsoft.com/office/drawing/2014/main" id="{BFC60591-2CC3-639C-C1E0-3430AE136A4F}"/>
              </a:ext>
            </a:extLst>
          </p:cNvPr>
          <p:cNvSpPr>
            <a:spLocks noGrp="1"/>
          </p:cNvSpPr>
          <p:nvPr>
            <p:ph idx="1"/>
          </p:nvPr>
        </p:nvSpPr>
        <p:spPr>
          <a:xfrm>
            <a:off x="1282926" y="1428204"/>
            <a:ext cx="3641771" cy="5037910"/>
          </a:xfrm>
        </p:spPr>
        <p:txBody>
          <a:bodyPr>
            <a:normAutofit fontScale="92500"/>
          </a:bodyPr>
          <a:lstStyle/>
          <a:p>
            <a:r>
              <a:rPr lang="en-US" b="1" dirty="0"/>
              <a:t>What You Should Know (Basic Knowledge)</a:t>
            </a:r>
          </a:p>
          <a:p>
            <a:r>
              <a:rPr lang="en-US" b="1" dirty="0"/>
              <a:t>Cyber threats are everywhere</a:t>
            </a:r>
            <a:br>
              <a:rPr lang="en-US" dirty="0"/>
            </a:br>
            <a:r>
              <a:rPr lang="en-US" dirty="0"/>
              <a:t>They can come through emails, websites, apps, or downloads. </a:t>
            </a:r>
          </a:p>
          <a:p>
            <a:r>
              <a:rPr lang="en-US" b="1" dirty="0"/>
              <a:t>Personal data is valuable</a:t>
            </a:r>
            <a:br>
              <a:rPr lang="en-US" dirty="0"/>
            </a:br>
            <a:r>
              <a:rPr lang="en-US" dirty="0"/>
              <a:t>Information like passwords, OTPs, bank details, and photos must be protected. </a:t>
            </a:r>
          </a:p>
          <a:p>
            <a:r>
              <a:rPr lang="en-US" b="1" dirty="0"/>
              <a:t>Hackers use tricks</a:t>
            </a:r>
            <a:br>
              <a:rPr lang="en-US" dirty="0"/>
            </a:br>
            <a:r>
              <a:rPr lang="en-US" dirty="0"/>
              <a:t>Most attacks happen because users trust fake links, emails, or messages. </a:t>
            </a:r>
          </a:p>
          <a:p>
            <a:r>
              <a:rPr lang="en-US" b="1" dirty="0"/>
              <a:t>Weak security = easy target</a:t>
            </a:r>
            <a:br>
              <a:rPr lang="en-US" dirty="0"/>
            </a:br>
            <a:r>
              <a:rPr lang="en-US" dirty="0"/>
              <a:t>Simple passwords and careless behavior increase risk.</a:t>
            </a:r>
          </a:p>
          <a:p>
            <a:endParaRPr lang="en-IN" dirty="0"/>
          </a:p>
        </p:txBody>
      </p:sp>
      <p:sp>
        <p:nvSpPr>
          <p:cNvPr id="5" name="TextBox 4">
            <a:extLst>
              <a:ext uri="{FF2B5EF4-FFF2-40B4-BE49-F238E27FC236}">
                <a16:creationId xmlns:a16="http://schemas.microsoft.com/office/drawing/2014/main" id="{B402E0EC-3412-72F4-E14F-265ED333BA33}"/>
              </a:ext>
            </a:extLst>
          </p:cNvPr>
          <p:cNvSpPr txBox="1"/>
          <p:nvPr/>
        </p:nvSpPr>
        <p:spPr>
          <a:xfrm>
            <a:off x="5498921" y="948690"/>
            <a:ext cx="6479719" cy="7017306"/>
          </a:xfrm>
          <a:prstGeom prst="rect">
            <a:avLst/>
          </a:prstGeom>
          <a:noFill/>
        </p:spPr>
        <p:txBody>
          <a:bodyPr wrap="square">
            <a:spAutoFit/>
          </a:bodyPr>
          <a:lstStyle/>
          <a:p>
            <a:pPr>
              <a:buNone/>
            </a:pPr>
            <a:r>
              <a:rPr lang="en-US" b="1" dirty="0"/>
              <a:t>Safety Rules to Protect Yourself</a:t>
            </a:r>
          </a:p>
          <a:p>
            <a:pPr>
              <a:buNone/>
            </a:pPr>
            <a:r>
              <a:rPr lang="en-US" b="1" dirty="0"/>
              <a:t>1.  Use Strong Passwords</a:t>
            </a:r>
          </a:p>
          <a:p>
            <a:pPr>
              <a:buFont typeface="Arial" panose="020B0604020202020204" pitchFamily="34" charset="0"/>
              <a:buChar char="•"/>
            </a:pPr>
            <a:r>
              <a:rPr lang="en-US" dirty="0"/>
              <a:t>Use a mix of letters, numbers, and symbols </a:t>
            </a:r>
          </a:p>
          <a:p>
            <a:pPr>
              <a:buFont typeface="Arial" panose="020B0604020202020204" pitchFamily="34" charset="0"/>
              <a:buChar char="•"/>
            </a:pPr>
            <a:r>
              <a:rPr lang="en-US" dirty="0"/>
              <a:t>Avoid simple passwords like “123456” </a:t>
            </a:r>
          </a:p>
          <a:p>
            <a:pPr>
              <a:buFont typeface="Arial" panose="020B0604020202020204" pitchFamily="34" charset="0"/>
              <a:buChar char="•"/>
            </a:pPr>
            <a:r>
              <a:rPr lang="en-US" dirty="0"/>
              <a:t>Change passwords regularly </a:t>
            </a:r>
          </a:p>
          <a:p>
            <a:pPr>
              <a:buNone/>
            </a:pPr>
            <a:r>
              <a:rPr lang="en-US" dirty="0"/>
              <a:t> Example: Instead of </a:t>
            </a:r>
            <a:r>
              <a:rPr lang="en-US" i="1" dirty="0"/>
              <a:t>password123</a:t>
            </a:r>
            <a:r>
              <a:rPr lang="en-US" dirty="0"/>
              <a:t>, use </a:t>
            </a:r>
            <a:r>
              <a:rPr lang="en-US" i="1" dirty="0"/>
              <a:t>P@ssW0rd!89</a:t>
            </a:r>
          </a:p>
          <a:p>
            <a:r>
              <a:rPr lang="en-US" b="1" dirty="0"/>
              <a:t>2. Be Careful with Emails (Phishing)</a:t>
            </a:r>
          </a:p>
          <a:p>
            <a:r>
              <a:rPr lang="en-US" dirty="0"/>
              <a:t>Do not click on unknown links </a:t>
            </a:r>
          </a:p>
          <a:p>
            <a:r>
              <a:rPr lang="en-US" dirty="0"/>
              <a:t>Do not share OTP or personal info </a:t>
            </a:r>
          </a:p>
          <a:p>
            <a:r>
              <a:rPr lang="en-US" dirty="0"/>
              <a:t>Check sender email carefully </a:t>
            </a:r>
          </a:p>
          <a:p>
            <a:r>
              <a:rPr lang="en-US" dirty="0"/>
              <a:t>Example: Fake bank email asking for login details</a:t>
            </a:r>
          </a:p>
          <a:p>
            <a:r>
              <a:rPr lang="en-US" b="1" dirty="0"/>
              <a:t>3.  Install Antivirus Software</a:t>
            </a:r>
          </a:p>
          <a:p>
            <a:r>
              <a:rPr lang="en-US" dirty="0"/>
              <a:t>Protects your system from malware and viruses </a:t>
            </a:r>
          </a:p>
          <a:p>
            <a:r>
              <a:rPr lang="en-US" dirty="0"/>
              <a:t>Keep it updated</a:t>
            </a:r>
          </a:p>
          <a:p>
            <a:r>
              <a:rPr lang="en-US" b="1" dirty="0"/>
              <a:t>4.  Avoid Unknown Downloads</a:t>
            </a:r>
          </a:p>
          <a:p>
            <a:r>
              <a:rPr lang="en-US" dirty="0"/>
              <a:t>Do not download files from untrusted websites </a:t>
            </a:r>
          </a:p>
          <a:p>
            <a:r>
              <a:rPr lang="en-US" dirty="0"/>
              <a:t>Avoid cracked software and pirated content</a:t>
            </a:r>
          </a:p>
          <a:p>
            <a:r>
              <a:rPr lang="en-US" b="1" dirty="0"/>
              <a:t>5.  Keep Software Updated</a:t>
            </a:r>
          </a:p>
          <a:p>
            <a:r>
              <a:rPr lang="en-US" dirty="0"/>
              <a:t>Update your phone, apps, and system regularly </a:t>
            </a:r>
          </a:p>
          <a:p>
            <a:r>
              <a:rPr lang="en-US" dirty="0"/>
              <a:t>Updates fix security problems</a:t>
            </a:r>
          </a:p>
          <a:p>
            <a:endParaRPr lang="en-US" dirty="0"/>
          </a:p>
          <a:p>
            <a:endParaRPr lang="en-US" dirty="0"/>
          </a:p>
          <a:p>
            <a:pPr>
              <a:buNone/>
            </a:pPr>
            <a:endParaRPr lang="en-US" i="1" dirty="0"/>
          </a:p>
          <a:p>
            <a:pPr>
              <a:buNone/>
            </a:pPr>
            <a:endParaRPr lang="en-US" i="1" dirty="0"/>
          </a:p>
          <a:p>
            <a:pPr>
              <a:buNone/>
            </a:pPr>
            <a:endParaRPr lang="en-US" dirty="0"/>
          </a:p>
        </p:txBody>
      </p:sp>
    </p:spTree>
    <p:extLst>
      <p:ext uri="{BB962C8B-B14F-4D97-AF65-F5344CB8AC3E}">
        <p14:creationId xmlns:p14="http://schemas.microsoft.com/office/powerpoint/2010/main" val="4085189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D9825-774F-40AD-FBD4-CD47A5EDC14C}"/>
              </a:ext>
            </a:extLst>
          </p:cNvPr>
          <p:cNvSpPr>
            <a:spLocks noGrp="1"/>
          </p:cNvSpPr>
          <p:nvPr>
            <p:ph type="title"/>
          </p:nvPr>
        </p:nvSpPr>
        <p:spPr/>
        <p:txBody>
          <a:bodyPr/>
          <a:lstStyle/>
          <a:p>
            <a:r>
              <a:rPr lang="en-IN" dirty="0"/>
              <a:t>REAL LIFE ATTECS</a:t>
            </a:r>
          </a:p>
        </p:txBody>
      </p:sp>
      <p:sp>
        <p:nvSpPr>
          <p:cNvPr id="3" name="Content Placeholder 2">
            <a:extLst>
              <a:ext uri="{FF2B5EF4-FFF2-40B4-BE49-F238E27FC236}">
                <a16:creationId xmlns:a16="http://schemas.microsoft.com/office/drawing/2014/main" id="{DA46C2F7-9305-D382-B2B5-04CBE70E6064}"/>
              </a:ext>
            </a:extLst>
          </p:cNvPr>
          <p:cNvSpPr>
            <a:spLocks noGrp="1"/>
          </p:cNvSpPr>
          <p:nvPr>
            <p:ph idx="1"/>
          </p:nvPr>
        </p:nvSpPr>
        <p:spPr>
          <a:xfrm>
            <a:off x="1426618" y="1375954"/>
            <a:ext cx="7429999" cy="5024845"/>
          </a:xfrm>
        </p:spPr>
        <p:txBody>
          <a:bodyPr>
            <a:normAutofit fontScale="77500" lnSpcReduction="20000"/>
          </a:bodyPr>
          <a:lstStyle/>
          <a:p>
            <a:r>
              <a:rPr lang="en-US" b="1" dirty="0"/>
              <a:t>WannaCry Ransomware (2017):</a:t>
            </a:r>
            <a:r>
              <a:rPr lang="en-US" dirty="0"/>
              <a:t> A ransomware attack that encrypted files on over 200,000 computers across 150 countries, including hospitals within the UK's National Health Service (NHS).</a:t>
            </a:r>
          </a:p>
          <a:p>
            <a:r>
              <a:rPr lang="en-US" b="1" dirty="0"/>
              <a:t>Yahoo! Data Breaches (2013-2014):</a:t>
            </a:r>
            <a:r>
              <a:rPr lang="en-US" dirty="0"/>
              <a:t> One of the largest breaches in history, where all 3 billion Yahoo accounts were compromised, leaking user names, passwords, and security questions.</a:t>
            </a:r>
          </a:p>
          <a:p>
            <a:r>
              <a:rPr lang="en-US" b="1" dirty="0"/>
              <a:t>Colonial Pipeline Ransomware (2021):</a:t>
            </a:r>
            <a:r>
              <a:rPr lang="en-US" dirty="0"/>
              <a:t> Hackers (</a:t>
            </a:r>
            <a:r>
              <a:rPr lang="en-US" dirty="0" err="1"/>
              <a:t>DarkSide</a:t>
            </a:r>
            <a:r>
              <a:rPr lang="en-US" dirty="0"/>
              <a:t>) targeted the largest fuel pipeline in the US, forcing it to shut down for several days, causing fuel shortages and necessitating a ransom payment of over $4 million.</a:t>
            </a:r>
          </a:p>
          <a:p>
            <a:r>
              <a:rPr lang="en-US" b="1" dirty="0"/>
              <a:t>Stuxnet Worm (c. 2010):</a:t>
            </a:r>
            <a:r>
              <a:rPr lang="en-US" dirty="0"/>
              <a:t> A sophisticated weaponized computer code designed to sabotage Iran's nuclear program by damaging centrifuges.</a:t>
            </a:r>
          </a:p>
          <a:p>
            <a:r>
              <a:rPr lang="en-US" b="1" dirty="0"/>
              <a:t>Sony Pictures Hack (2014):</a:t>
            </a:r>
            <a:r>
              <a:rPr lang="en-US" dirty="0"/>
              <a:t> A group known as GOP (Guardians of Peace) leaked confidential emails and data from Sony Pictures, demanding the cancellation of a film.</a:t>
            </a:r>
          </a:p>
          <a:p>
            <a:r>
              <a:rPr lang="en-US" b="1" dirty="0"/>
              <a:t>Estonia DDoS Attacks (2007):</a:t>
            </a:r>
            <a:r>
              <a:rPr lang="en-US" dirty="0"/>
              <a:t> Following political disputes, hackers launched massive Distributed Denial of Service (DDoS) attacks against Estonian government, banking, and media websites, disrupting public services.</a:t>
            </a:r>
          </a:p>
          <a:p>
            <a:r>
              <a:rPr lang="en-US" b="1" dirty="0"/>
              <a:t>SolarWinds Supply Chain Attack (2020):</a:t>
            </a:r>
            <a:r>
              <a:rPr lang="en-US" dirty="0"/>
              <a:t> Russian hackers inserted malicious code into software updates for SolarWinds' Orion platform, compromising multiple US government agencies and private companies.</a:t>
            </a:r>
          </a:p>
          <a:p>
            <a:r>
              <a:rPr lang="en-US" b="1" dirty="0">
                <a:hlinkClick r:id="rId2"/>
              </a:rPr>
              <a:t>PowerSchool Data Breach (2025)</a:t>
            </a:r>
            <a:r>
              <a:rPr lang="en-US" b="1" dirty="0"/>
              <a:t>:</a:t>
            </a:r>
            <a:r>
              <a:rPr lang="en-US" dirty="0"/>
              <a:t> Hackers utilized a stolen account lacking multi-factor authentication to steal data from over 62 million students and 9.5 million teachers in the US.</a:t>
            </a:r>
          </a:p>
          <a:p>
            <a:endParaRPr lang="en-IN" dirty="0"/>
          </a:p>
        </p:txBody>
      </p:sp>
      <p:pic>
        <p:nvPicPr>
          <p:cNvPr id="4098" name="Picture 2" descr="The 10 Worst Cyber Crimes Analysed ...">
            <a:extLst>
              <a:ext uri="{FF2B5EF4-FFF2-40B4-BE49-F238E27FC236}">
                <a16:creationId xmlns:a16="http://schemas.microsoft.com/office/drawing/2014/main" id="{5643C6B9-982A-E838-09AF-EAA2A15E8B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1120" y="1375954"/>
            <a:ext cx="2962275" cy="4138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594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4F807-C5D9-8F62-E822-295C4DFC8387}"/>
              </a:ext>
            </a:extLst>
          </p:cNvPr>
          <p:cNvSpPr>
            <a:spLocks noGrp="1"/>
          </p:cNvSpPr>
          <p:nvPr>
            <p:ph type="title"/>
          </p:nvPr>
        </p:nvSpPr>
        <p:spPr>
          <a:xfrm>
            <a:off x="2344731" y="624110"/>
            <a:ext cx="8911687" cy="1280890"/>
          </a:xfrm>
        </p:spPr>
        <p:txBody>
          <a:bodyPr>
            <a:normAutofit/>
          </a:bodyPr>
          <a:lstStyle/>
          <a:p>
            <a:r>
              <a:rPr lang="en-IN" b="1" dirty="0"/>
              <a:t>PROJECT- “DIGITAL AWARENESS”</a:t>
            </a:r>
            <a:br>
              <a:rPr lang="en-IN" dirty="0"/>
            </a:br>
            <a:r>
              <a:rPr lang="en-IN" sz="2000" dirty="0"/>
              <a:t>                                         </a:t>
            </a:r>
            <a:r>
              <a:rPr lang="en-IN" sz="2000" b="1" dirty="0"/>
              <a:t>(CYBER SECURITY AWARENESS)</a:t>
            </a:r>
          </a:p>
        </p:txBody>
      </p:sp>
      <p:sp>
        <p:nvSpPr>
          <p:cNvPr id="3" name="Content Placeholder 2">
            <a:extLst>
              <a:ext uri="{FF2B5EF4-FFF2-40B4-BE49-F238E27FC236}">
                <a16:creationId xmlns:a16="http://schemas.microsoft.com/office/drawing/2014/main" id="{9EE11307-757B-3860-984F-7B6080B90DFA}"/>
              </a:ext>
            </a:extLst>
          </p:cNvPr>
          <p:cNvSpPr>
            <a:spLocks noGrp="1"/>
          </p:cNvSpPr>
          <p:nvPr>
            <p:ph idx="1"/>
          </p:nvPr>
        </p:nvSpPr>
        <p:spPr>
          <a:xfrm>
            <a:off x="1034732" y="1692370"/>
            <a:ext cx="5575074" cy="5348510"/>
          </a:xfrm>
        </p:spPr>
        <p:txBody>
          <a:bodyPr>
            <a:normAutofit fontScale="85000" lnSpcReduction="10000"/>
          </a:bodyPr>
          <a:lstStyle/>
          <a:p>
            <a:r>
              <a:rPr lang="en-US" dirty="0"/>
              <a:t>This project has been developed to raise awareness among people about cyber security in today’s digital world. With the increasing use of the internet, many users are unaware of cyber threats and become easy targets of cyber crimes. The main aim of this project is to educate users so that they can protect themselves from such threats.</a:t>
            </a:r>
          </a:p>
          <a:p>
            <a:r>
              <a:rPr lang="en-US" dirty="0"/>
              <a:t>In this project, we have included basic information about cyber security and various types of cyber threats, especially malware. It explains what malware is, how it affects systems, and how users can stay safe from such attacks. Along with this, the project also provides important safety tips that users should follow while using the internet.</a:t>
            </a:r>
          </a:p>
          <a:p>
            <a:r>
              <a:rPr lang="en-US" dirty="0"/>
              <a:t>To make the content more understandable and relatable, real-life examples of cyber crimes have also been added. These examples help users understand how cyber attacks happen in real situations and what mistakes should be avoided.</a:t>
            </a:r>
          </a:p>
          <a:p>
            <a:r>
              <a:rPr lang="en-US" dirty="0"/>
              <a:t>Overall, this project is designed to spread awareness and ensure that people become more cautious and informed while using digital platforms, so they can protect themselves from potential cyber risks and losses.</a:t>
            </a:r>
          </a:p>
          <a:p>
            <a:endParaRPr lang="en-IN" dirty="0"/>
          </a:p>
        </p:txBody>
      </p:sp>
      <p:pic>
        <p:nvPicPr>
          <p:cNvPr id="5" name="Picture 4">
            <a:extLst>
              <a:ext uri="{FF2B5EF4-FFF2-40B4-BE49-F238E27FC236}">
                <a16:creationId xmlns:a16="http://schemas.microsoft.com/office/drawing/2014/main" id="{D95ABAA1-86CC-1958-793C-0036F2540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0880" y="1692370"/>
            <a:ext cx="4376057" cy="4705536"/>
          </a:xfrm>
          <a:prstGeom prst="rect">
            <a:avLst/>
          </a:prstGeom>
        </p:spPr>
      </p:pic>
    </p:spTree>
    <p:extLst>
      <p:ext uri="{BB962C8B-B14F-4D97-AF65-F5344CB8AC3E}">
        <p14:creationId xmlns:p14="http://schemas.microsoft.com/office/powerpoint/2010/main" val="660052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3F69-B686-02B8-5251-94B9BFB4F768}"/>
              </a:ext>
            </a:extLst>
          </p:cNvPr>
          <p:cNvSpPr>
            <a:spLocks noGrp="1"/>
          </p:cNvSpPr>
          <p:nvPr>
            <p:ph type="title"/>
          </p:nvPr>
        </p:nvSpPr>
        <p:spPr/>
        <p:txBody>
          <a:bodyPr/>
          <a:lstStyle/>
          <a:p>
            <a:r>
              <a:rPr lang="en-IN" b="1" dirty="0"/>
              <a:t>MALWARE</a:t>
            </a:r>
          </a:p>
        </p:txBody>
      </p:sp>
      <p:sp>
        <p:nvSpPr>
          <p:cNvPr id="3" name="Content Placeholder 2">
            <a:extLst>
              <a:ext uri="{FF2B5EF4-FFF2-40B4-BE49-F238E27FC236}">
                <a16:creationId xmlns:a16="http://schemas.microsoft.com/office/drawing/2014/main" id="{8AA6506F-8548-23E3-E78E-8E889E79CB0A}"/>
              </a:ext>
            </a:extLst>
          </p:cNvPr>
          <p:cNvSpPr>
            <a:spLocks noGrp="1"/>
          </p:cNvSpPr>
          <p:nvPr>
            <p:ph idx="1"/>
          </p:nvPr>
        </p:nvSpPr>
        <p:spPr>
          <a:xfrm>
            <a:off x="1740126" y="1541417"/>
            <a:ext cx="9951132" cy="1789612"/>
          </a:xfrm>
        </p:spPr>
        <p:txBody>
          <a:bodyPr>
            <a:normAutofit fontScale="77500" lnSpcReduction="20000"/>
          </a:bodyPr>
          <a:lstStyle/>
          <a:p>
            <a:r>
              <a:rPr lang="en-US" dirty="0"/>
              <a:t>In this project, basic information about malware has been included to help users understand this common cyber threat. Malware, short for malicious software, refers to harmful programs designed to damage, disrupt, or gain unauthorized access to computer systems.</a:t>
            </a:r>
          </a:p>
          <a:p>
            <a:r>
              <a:rPr lang="en-US" dirty="0"/>
              <a:t>The project explains what malware is, how it works, and the different ways it can affect users, such as stealing personal data, slowing down devices, or corrupting files. It also highlights how malware can enter a system through unsafe downloads, unknown links, or infected websites.</a:t>
            </a:r>
          </a:p>
          <a:p>
            <a:r>
              <a:rPr lang="en-US" dirty="0"/>
              <a:t>By including this information, the project aims to make users aware of malware and help them take necessary precautions to stay safe while using the internet.</a:t>
            </a:r>
          </a:p>
          <a:p>
            <a:endParaRPr lang="en-IN" dirty="0"/>
          </a:p>
        </p:txBody>
      </p:sp>
      <p:pic>
        <p:nvPicPr>
          <p:cNvPr id="5" name="Picture 4">
            <a:extLst>
              <a:ext uri="{FF2B5EF4-FFF2-40B4-BE49-F238E27FC236}">
                <a16:creationId xmlns:a16="http://schemas.microsoft.com/office/drawing/2014/main" id="{64E1CCD9-0BA4-9E23-9A8A-BC1647F97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480" y="3429000"/>
            <a:ext cx="5008257" cy="3030582"/>
          </a:xfrm>
          <a:prstGeom prst="rect">
            <a:avLst/>
          </a:prstGeom>
        </p:spPr>
      </p:pic>
      <p:pic>
        <p:nvPicPr>
          <p:cNvPr id="7" name="Picture 6">
            <a:extLst>
              <a:ext uri="{FF2B5EF4-FFF2-40B4-BE49-F238E27FC236}">
                <a16:creationId xmlns:a16="http://schemas.microsoft.com/office/drawing/2014/main" id="{37C76C3D-9099-760D-504B-9E06DAE9E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4491" y="3526972"/>
            <a:ext cx="5303521" cy="2804891"/>
          </a:xfrm>
          <a:prstGeom prst="rect">
            <a:avLst/>
          </a:prstGeom>
        </p:spPr>
      </p:pic>
    </p:spTree>
    <p:extLst>
      <p:ext uri="{BB962C8B-B14F-4D97-AF65-F5344CB8AC3E}">
        <p14:creationId xmlns:p14="http://schemas.microsoft.com/office/powerpoint/2010/main" val="497036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60A94-0B01-BB74-4EDD-38C5C2E3A1CE}"/>
              </a:ext>
            </a:extLst>
          </p:cNvPr>
          <p:cNvSpPr>
            <a:spLocks noGrp="1"/>
          </p:cNvSpPr>
          <p:nvPr>
            <p:ph type="title"/>
          </p:nvPr>
        </p:nvSpPr>
        <p:spPr/>
        <p:txBody>
          <a:bodyPr/>
          <a:lstStyle/>
          <a:p>
            <a:r>
              <a:rPr lang="en-IN" b="1" dirty="0"/>
              <a:t>SAFETY RULES</a:t>
            </a:r>
          </a:p>
        </p:txBody>
      </p:sp>
      <p:sp>
        <p:nvSpPr>
          <p:cNvPr id="3" name="Content Placeholder 2">
            <a:extLst>
              <a:ext uri="{FF2B5EF4-FFF2-40B4-BE49-F238E27FC236}">
                <a16:creationId xmlns:a16="http://schemas.microsoft.com/office/drawing/2014/main" id="{AF01C94A-D198-183E-7504-00FE7788E085}"/>
              </a:ext>
            </a:extLst>
          </p:cNvPr>
          <p:cNvSpPr>
            <a:spLocks noGrp="1"/>
          </p:cNvSpPr>
          <p:nvPr>
            <p:ph idx="1"/>
          </p:nvPr>
        </p:nvSpPr>
        <p:spPr>
          <a:xfrm>
            <a:off x="1975258" y="1368194"/>
            <a:ext cx="5966959" cy="5293863"/>
          </a:xfrm>
        </p:spPr>
        <p:txBody>
          <a:bodyPr>
            <a:normAutofit/>
          </a:bodyPr>
          <a:lstStyle/>
          <a:p>
            <a:r>
              <a:rPr lang="en-US" dirty="0"/>
              <a:t>In this project, various safety tips have been included to help users protect themselves from cyber threats. These tips are designed to guide people on safe online practices and reduce the risk of becoming victims of cyber crimes.</a:t>
            </a:r>
          </a:p>
          <a:p>
            <a:r>
              <a:rPr lang="en-US" dirty="0"/>
              <a:t>The project highlights important precautions such as creating strong passwords, avoiding suspicious links, not sharing OTPs or personal information, and regularly updating software and antivirus systems. It also emphasizes the importance of being cautious while using public Wi-Fi and downloading files from unknown sources.</a:t>
            </a:r>
          </a:p>
          <a:p>
            <a:r>
              <a:rPr lang="en-US" dirty="0"/>
              <a:t>By following these safety measures, users can significantly reduce the chances of cyber attacks and ensure a safer digital experience.</a:t>
            </a:r>
          </a:p>
          <a:p>
            <a:endParaRPr lang="en-IN" dirty="0"/>
          </a:p>
        </p:txBody>
      </p:sp>
      <p:pic>
        <p:nvPicPr>
          <p:cNvPr id="5" name="Picture 4">
            <a:extLst>
              <a:ext uri="{FF2B5EF4-FFF2-40B4-BE49-F238E27FC236}">
                <a16:creationId xmlns:a16="http://schemas.microsoft.com/office/drawing/2014/main" id="{8AC7706A-C8C3-E077-AB0E-AF6CAF339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2217" y="195943"/>
            <a:ext cx="4055327" cy="6204045"/>
          </a:xfrm>
          <a:prstGeom prst="rect">
            <a:avLst/>
          </a:prstGeom>
        </p:spPr>
      </p:pic>
    </p:spTree>
    <p:extLst>
      <p:ext uri="{BB962C8B-B14F-4D97-AF65-F5344CB8AC3E}">
        <p14:creationId xmlns:p14="http://schemas.microsoft.com/office/powerpoint/2010/main" val="3973684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50406-ADD2-E05B-BE61-CBCEFA728CD4}"/>
              </a:ext>
            </a:extLst>
          </p:cNvPr>
          <p:cNvSpPr>
            <a:spLocks noGrp="1"/>
          </p:cNvSpPr>
          <p:nvPr>
            <p:ph type="title"/>
          </p:nvPr>
        </p:nvSpPr>
        <p:spPr/>
        <p:txBody>
          <a:bodyPr/>
          <a:lstStyle/>
          <a:p>
            <a:r>
              <a:rPr lang="en-IN" b="1" dirty="0"/>
              <a:t>EXAMPLE</a:t>
            </a:r>
          </a:p>
        </p:txBody>
      </p:sp>
      <p:sp>
        <p:nvSpPr>
          <p:cNvPr id="3" name="Content Placeholder 2">
            <a:extLst>
              <a:ext uri="{FF2B5EF4-FFF2-40B4-BE49-F238E27FC236}">
                <a16:creationId xmlns:a16="http://schemas.microsoft.com/office/drawing/2014/main" id="{BF262528-05BC-A486-5FA3-96B60AB582B6}"/>
              </a:ext>
            </a:extLst>
          </p:cNvPr>
          <p:cNvSpPr>
            <a:spLocks noGrp="1"/>
          </p:cNvSpPr>
          <p:nvPr>
            <p:ph idx="1"/>
          </p:nvPr>
        </p:nvSpPr>
        <p:spPr>
          <a:xfrm>
            <a:off x="1073920" y="1650274"/>
            <a:ext cx="6371909" cy="4959532"/>
          </a:xfrm>
        </p:spPr>
        <p:txBody>
          <a:bodyPr>
            <a:normAutofit/>
          </a:bodyPr>
          <a:lstStyle/>
          <a:p>
            <a:r>
              <a:rPr lang="en-US" dirty="0"/>
              <a:t>In this project, real-life examples of cyber crimes have also been included to make users more aware and informed. These examples help in understanding how cyber attacks actually occur in everyday situations and how easily people can become victims if they are not careful.</a:t>
            </a:r>
          </a:p>
          <a:p>
            <a:r>
              <a:rPr lang="en-US" dirty="0"/>
              <a:t>The project presents common scenarios such as phishing emails, fake links, OTP frauds, and social media account hacking. By showcasing these real-world cases, users can relate better and identify similar threats in their own digital activities.</a:t>
            </a:r>
          </a:p>
          <a:p>
            <a:r>
              <a:rPr lang="en-US" dirty="0"/>
              <a:t>Including real-life examples makes the project more practical and impactful, as it not only provides theoretical knowledge but also helps users recognize and avoid potential cyber risks in real situations.</a:t>
            </a:r>
          </a:p>
          <a:p>
            <a:endParaRPr lang="en-IN" dirty="0"/>
          </a:p>
        </p:txBody>
      </p:sp>
      <p:pic>
        <p:nvPicPr>
          <p:cNvPr id="5" name="Picture 4">
            <a:extLst>
              <a:ext uri="{FF2B5EF4-FFF2-40B4-BE49-F238E27FC236}">
                <a16:creationId xmlns:a16="http://schemas.microsoft.com/office/drawing/2014/main" id="{6C1E3591-A07D-7F14-A2A4-78136A427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5829" y="1415143"/>
            <a:ext cx="4571999" cy="4476206"/>
          </a:xfrm>
          <a:prstGeom prst="rect">
            <a:avLst/>
          </a:prstGeom>
        </p:spPr>
      </p:pic>
    </p:spTree>
    <p:extLst>
      <p:ext uri="{BB962C8B-B14F-4D97-AF65-F5344CB8AC3E}">
        <p14:creationId xmlns:p14="http://schemas.microsoft.com/office/powerpoint/2010/main" val="2731886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0E5DE-1C52-2921-7E39-32A9DFD511DA}"/>
              </a:ext>
            </a:extLst>
          </p:cNvPr>
          <p:cNvSpPr>
            <a:spLocks noGrp="1"/>
          </p:cNvSpPr>
          <p:nvPr>
            <p:ph type="title"/>
          </p:nvPr>
        </p:nvSpPr>
        <p:spPr>
          <a:xfrm>
            <a:off x="2592925" y="624110"/>
            <a:ext cx="8911687" cy="394793"/>
          </a:xfrm>
        </p:spPr>
        <p:txBody>
          <a:bodyPr>
            <a:normAutofit/>
          </a:bodyPr>
          <a:lstStyle/>
          <a:p>
            <a:r>
              <a:rPr lang="en-IN" sz="1050" b="1" dirty="0"/>
              <a:t>SCREENSHORTS</a:t>
            </a:r>
          </a:p>
        </p:txBody>
      </p:sp>
      <p:pic>
        <p:nvPicPr>
          <p:cNvPr id="5" name="Content Placeholder 4">
            <a:extLst>
              <a:ext uri="{FF2B5EF4-FFF2-40B4-BE49-F238E27FC236}">
                <a16:creationId xmlns:a16="http://schemas.microsoft.com/office/drawing/2014/main" id="{7056B5DA-37B0-FE38-66FB-7CC10295A0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817" y="986334"/>
            <a:ext cx="6792647" cy="3778250"/>
          </a:xfrm>
          <a:prstGeom prst="rect">
            <a:avLst/>
          </a:prstGeom>
        </p:spPr>
      </p:pic>
      <p:pic>
        <p:nvPicPr>
          <p:cNvPr id="7" name="Picture 6">
            <a:extLst>
              <a:ext uri="{FF2B5EF4-FFF2-40B4-BE49-F238E27FC236}">
                <a16:creationId xmlns:a16="http://schemas.microsoft.com/office/drawing/2014/main" id="{DAD51EB9-BF10-646B-F905-682969DEF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6522" y="1967028"/>
            <a:ext cx="7067006" cy="4890972"/>
          </a:xfrm>
          <a:prstGeom prst="rect">
            <a:avLst/>
          </a:prstGeom>
        </p:spPr>
      </p:pic>
    </p:spTree>
    <p:extLst>
      <p:ext uri="{BB962C8B-B14F-4D97-AF65-F5344CB8AC3E}">
        <p14:creationId xmlns:p14="http://schemas.microsoft.com/office/powerpoint/2010/main" val="1358993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723D-C0B0-5AB3-A55E-BF1F74F0C9E5}"/>
              </a:ext>
            </a:extLst>
          </p:cNvPr>
          <p:cNvSpPr>
            <a:spLocks noGrp="1"/>
          </p:cNvSpPr>
          <p:nvPr>
            <p:ph type="title"/>
          </p:nvPr>
        </p:nvSpPr>
        <p:spPr/>
        <p:txBody>
          <a:bodyPr>
            <a:normAutofit/>
          </a:bodyPr>
          <a:lstStyle/>
          <a:p>
            <a:r>
              <a:rPr lang="en-IN" sz="2400" b="1" u="sng" dirty="0"/>
              <a:t>PROJECT</a:t>
            </a:r>
          </a:p>
        </p:txBody>
      </p:sp>
      <p:sp>
        <p:nvSpPr>
          <p:cNvPr id="3" name="Content Placeholder 2">
            <a:extLst>
              <a:ext uri="{FF2B5EF4-FFF2-40B4-BE49-F238E27FC236}">
                <a16:creationId xmlns:a16="http://schemas.microsoft.com/office/drawing/2014/main" id="{99515806-4BBB-F0A4-8BDD-778D3422723C}"/>
              </a:ext>
            </a:extLst>
          </p:cNvPr>
          <p:cNvSpPr>
            <a:spLocks noGrp="1"/>
          </p:cNvSpPr>
          <p:nvPr>
            <p:ph idx="1"/>
          </p:nvPr>
        </p:nvSpPr>
        <p:spPr/>
        <p:txBody>
          <a:bodyPr/>
          <a:lstStyle/>
          <a:p>
            <a:r>
              <a:rPr lang="en-US" dirty="0"/>
              <a:t>This is a Digital Awareness (Cyber Security Awareness) project designed to educate users about various cyber threats and provide essential knowledge and safety measures to help them stay secure in the digital environment. </a:t>
            </a:r>
          </a:p>
          <a:p>
            <a:r>
              <a:rPr lang="en-US" sz="2400" b="1" u="sng" dirty="0"/>
              <a:t>Link : https://github.com/pratimasahupratima4-ctrl/Digital-Awareness.git  </a:t>
            </a:r>
            <a:endParaRPr lang="en-IN" sz="2400" b="1" u="sng" dirty="0"/>
          </a:p>
        </p:txBody>
      </p:sp>
    </p:spTree>
    <p:extLst>
      <p:ext uri="{BB962C8B-B14F-4D97-AF65-F5344CB8AC3E}">
        <p14:creationId xmlns:p14="http://schemas.microsoft.com/office/powerpoint/2010/main" val="301104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0718-EC1C-1937-13D7-15CF427B4F0A}"/>
              </a:ext>
            </a:extLst>
          </p:cNvPr>
          <p:cNvSpPr>
            <a:spLocks noGrp="1"/>
          </p:cNvSpPr>
          <p:nvPr>
            <p:ph type="title"/>
          </p:nvPr>
        </p:nvSpPr>
        <p:spPr>
          <a:xfrm>
            <a:off x="3507325" y="2361470"/>
            <a:ext cx="8911687" cy="1280890"/>
          </a:xfrm>
        </p:spPr>
        <p:txBody>
          <a:bodyPr>
            <a:normAutofit/>
          </a:bodyPr>
          <a:lstStyle/>
          <a:p>
            <a:r>
              <a:rPr lang="en-IN" sz="6000" b="1" dirty="0"/>
              <a:t>THANK YOU </a:t>
            </a:r>
          </a:p>
        </p:txBody>
      </p:sp>
      <p:sp>
        <p:nvSpPr>
          <p:cNvPr id="3" name="Content Placeholder 2">
            <a:extLst>
              <a:ext uri="{FF2B5EF4-FFF2-40B4-BE49-F238E27FC236}">
                <a16:creationId xmlns:a16="http://schemas.microsoft.com/office/drawing/2014/main" id="{02F3327D-D0E9-703F-963A-1BBBACA9D202}"/>
              </a:ext>
            </a:extLst>
          </p:cNvPr>
          <p:cNvSpPr>
            <a:spLocks noGrp="1"/>
          </p:cNvSpPr>
          <p:nvPr>
            <p:ph idx="1"/>
          </p:nvPr>
        </p:nvSpPr>
        <p:spPr>
          <a:xfrm>
            <a:off x="2589212" y="5826034"/>
            <a:ext cx="45719" cy="85187"/>
          </a:xfrm>
        </p:spPr>
        <p:txBody>
          <a:bodyPr>
            <a:normAutofit fontScale="25000" lnSpcReduction="20000"/>
          </a:bodyPr>
          <a:lstStyle/>
          <a:p>
            <a:endParaRPr lang="en-IN" dirty="0"/>
          </a:p>
        </p:txBody>
      </p:sp>
    </p:spTree>
    <p:extLst>
      <p:ext uri="{BB962C8B-B14F-4D97-AF65-F5344CB8AC3E}">
        <p14:creationId xmlns:p14="http://schemas.microsoft.com/office/powerpoint/2010/main" val="12495214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304</TotalTime>
  <Words>1346</Words>
  <Application>Microsoft Office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Trebuchet MS</vt:lpstr>
      <vt:lpstr>Wingdings 3</vt:lpstr>
      <vt:lpstr>Facet</vt:lpstr>
      <vt:lpstr>GOVERNMENT ENGINEERING COLLEGE           JAGDALPUR(C.G)             </vt:lpstr>
      <vt:lpstr>CYBER SECURITY</vt:lpstr>
      <vt:lpstr>Cyber Thread</vt:lpstr>
      <vt:lpstr>SAFETY RULES AND KNOWLEDGE </vt:lpstr>
      <vt:lpstr>REAL LIFE ATTECS</vt:lpstr>
      <vt:lpstr>PROJECT- “DIGITAL AWARENESS”                                          (CYBER SECURITY AWARENESS)</vt:lpstr>
      <vt:lpstr>MALWARE</vt:lpstr>
      <vt:lpstr>SAFETY RULES</vt:lpstr>
      <vt:lpstr>EXAMPLE</vt:lpstr>
      <vt:lpstr>SCREENSHORTS</vt:lpstr>
      <vt:lpstr>PROJECT</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FALGUNI SINHA</dc:creator>
  <cp:lastModifiedBy>pratimasahupratima4@gmail.com</cp:lastModifiedBy>
  <cp:revision>10</cp:revision>
  <dcterms:created xsi:type="dcterms:W3CDTF">2026-03-24T05:12:41Z</dcterms:created>
  <dcterms:modified xsi:type="dcterms:W3CDTF">2026-03-24T14:41:56Z</dcterms:modified>
</cp:coreProperties>
</file>